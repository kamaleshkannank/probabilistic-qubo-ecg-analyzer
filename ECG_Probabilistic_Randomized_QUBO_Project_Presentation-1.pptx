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Probabilistic Randomized QUBO-Based ECG Analyzer</a:t>
            </a:r>
          </a:p>
          <a:p>
            <a:pPr algn="ctr">
              <a:defRPr sz="2100"/>
            </a:pPr>
            <a:r>
              <a:t>For Fast, Explainable and Uncertainty-Aware Doctor Assistance</a:t>
            </a:r>
            <a:br/>
            <a:r>
              <a:t>Software-First Prototype and Future Hardware Commercialization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ECG interpretation can be affected by noise, measurement variability, borderline values and multiple simultaneous findings.</a:t>
            </a:r>
          </a:p>
          <a:p>
            <a:pPr>
              <a:spcAft>
                <a:spcPts val="800"/>
              </a:spcAft>
              <a:defRPr sz="1800"/>
            </a:pPr>
            <a:r>
              <a:t>The system combines ECG signal processing, fast analysis, probability estimation, controlled randomized/stochastic processing and QUBO.</a:t>
            </a:r>
          </a:p>
          <a:p>
            <a:pPr>
              <a:spcAft>
                <a:spcPts val="800"/>
              </a:spcAft>
              <a:defRPr sz="1800"/>
            </a:pPr>
            <a:r>
              <a:t>It extracts ECG measurements, estimates candidate-finding probabilities, generates plausible ECG states, optimizes candidate combinations and measures stability.</a:t>
            </a:r>
          </a:p>
          <a:p>
            <a:pPr>
              <a:spcAft>
                <a:spcPts val="800"/>
              </a:spcAft>
              <a:defRPr sz="1800"/>
            </a:pPr>
            <a:r>
              <a:t>Final output: waveform, measurements, probability, stability, signal quality and supporting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ECG signals may contain noise, artifacts and baseline variation.</a:t>
            </a:r>
          </a:p>
          <a:p>
            <a:pPr>
              <a:spcAft>
                <a:spcPts val="800"/>
              </a:spcAft>
              <a:defRPr sz="1800"/>
            </a:pPr>
            <a:r>
              <a:t>• Measurements and patterns may be borderline.</a:t>
            </a:r>
          </a:p>
          <a:p>
            <a:pPr>
              <a:spcAft>
                <a:spcPts val="800"/>
              </a:spcAft>
              <a:defRPr sz="1800"/>
            </a:pPr>
            <a:r>
              <a:t>• Multiple candidate findings may occur simultaneously.</a:t>
            </a:r>
          </a:p>
          <a:p>
            <a:pPr>
              <a:spcAft>
                <a:spcPts val="800"/>
              </a:spcAft>
              <a:defRPr sz="1800"/>
            </a:pPr>
            <a:r>
              <a:t>• Independent algorithms can produce competing interpretations.</a:t>
            </a:r>
          </a:p>
          <a:p>
            <a:pPr>
              <a:spcAft>
                <a:spcPts val="800"/>
              </a:spcAft>
              <a:defRPr sz="1800"/>
            </a:pPr>
            <a:r>
              <a:t>• A single confidence value may not adequately represent uncertainty.</a:t>
            </a:r>
          </a:p>
          <a:p>
            <a:pPr>
              <a:spcAft>
                <a:spcPts val="800"/>
              </a:spcAft>
              <a:defRPr sz="1800"/>
            </a:pPr>
            <a:r>
              <a:t>• Black-box predictions may be difficult to interpret.</a:t>
            </a:r>
          </a:p>
          <a:p>
            <a:pPr>
              <a:spcAft>
                <a:spcPts val="800"/>
              </a:spcAft>
              <a:defRPr sz="1800"/>
            </a:pPr>
            <a:r>
              <a:t>• Large-scale screening can increase clinical workload.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ECG → Signal preprocessing → Feature extraction → Fast analyzer</a:t>
            </a:r>
          </a:p>
          <a:p>
            <a:pPr>
              <a:spcAft>
                <a:spcPts val="800"/>
              </a:spcAft>
              <a:defRPr sz="1800"/>
            </a:pPr>
            <a:r>
              <a:t>Fast analyzer + Probability engine → Randomized/Stochastic processor</a:t>
            </a:r>
          </a:p>
          <a:p>
            <a:pPr>
              <a:spcAft>
                <a:spcPts val="800"/>
              </a:spcAft>
              <a:defRPr sz="1800"/>
            </a:pPr>
            <a:r>
              <a:t>Multiple plausible ECG states → QUBO optimization → Stability/Consensus</a:t>
            </a:r>
          </a:p>
          <a:p>
            <a:pPr>
              <a:spcAft>
                <a:spcPts val="800"/>
              </a:spcAft>
              <a:defRPr sz="1800"/>
            </a:pPr>
            <a:r>
              <a:t>→ Explainability engine → Doctor-assistance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Process ECG recordings digitally and reduce common noise/artifacts.</a:t>
            </a:r>
          </a:p>
          <a:p>
            <a:pPr>
              <a:spcAft>
                <a:spcPts val="800"/>
              </a:spcAft>
              <a:defRPr sz="1800"/>
            </a:pPr>
            <a:r>
              <a:t>• Extract clinically relevant ECG measurements.</a:t>
            </a:r>
          </a:p>
          <a:p>
            <a:pPr>
              <a:spcAft>
                <a:spcPts val="800"/>
              </a:spcAft>
              <a:defRPr sz="1800"/>
            </a:pPr>
            <a:r>
              <a:t>• Estimate probabilities for predefined candidate findings.</a:t>
            </a:r>
          </a:p>
          <a:p>
            <a:pPr>
              <a:spcAft>
                <a:spcPts val="800"/>
              </a:spcAft>
              <a:defRPr sz="1800"/>
            </a:pPr>
            <a:r>
              <a:t>• Model uncertainty through controlled stochastic sampling.</a:t>
            </a:r>
          </a:p>
          <a:p>
            <a:pPr>
              <a:spcAft>
                <a:spcPts val="800"/>
              </a:spcAft>
              <a:defRPr sz="1800"/>
            </a:pPr>
            <a:r>
              <a:t>• Formulate candidate findings as a QUBO optimization problem.</a:t>
            </a:r>
          </a:p>
          <a:p>
            <a:pPr>
              <a:spcAft>
                <a:spcPts val="800"/>
              </a:spcAft>
              <a:defRPr sz="1800"/>
            </a:pPr>
            <a:r>
              <a:t>• Resolve defined conflicts and calculate stability/consensus.</a:t>
            </a:r>
          </a:p>
          <a:p>
            <a:pPr>
              <a:spcAft>
                <a:spcPts val="800"/>
              </a:spcAft>
              <a:defRPr sz="1800"/>
            </a:pPr>
            <a:r>
              <a:t>• Present results through a doctor-oriented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ECG Signal Processing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Input: CSV, MAT, XML or ECG device data in the initial prototype.</a:t>
            </a:r>
          </a:p>
          <a:p>
            <a:pPr>
              <a:spcAft>
                <a:spcPts val="800"/>
              </a:spcAft>
              <a:defRPr sz="1800"/>
            </a:pPr>
            <a:r>
              <a:t>Signal processing: baseline-wander reduction, noise/artifact reduction, power-line interference reduction, normalization and signal-quality assessment.</a:t>
            </a:r>
          </a:p>
          <a:p>
            <a:pPr>
              <a:spcAft>
                <a:spcPts val="800"/>
              </a:spcAft>
              <a:defRPr sz="1800"/>
            </a:pPr>
            <a:r>
              <a:t>Features: heart rate, RR, PR, QRS, QT/QTc, P/QRS/T characteristics, ST-segment, rhythm regularity and beat-to-beat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Fast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Provides a low-latency first-pass assessment.</a:t>
            </a:r>
          </a:p>
          <a:p>
            <a:pPr>
              <a:spcAft>
                <a:spcPts val="800"/>
              </a:spcAft>
              <a:defRPr sz="1800"/>
            </a:pPr>
            <a:r>
              <a:t>Calculates common measurements and checks whether the signal is suitable for further analysis.</a:t>
            </a:r>
          </a:p>
          <a:p>
            <a:pPr>
              <a:spcAft>
                <a:spcPts val="800"/>
              </a:spcAft>
              <a:defRPr sz="1800"/>
            </a:pPr>
            <a:r>
              <a:t>Clear result → preliminary result.</a:t>
            </a:r>
          </a:p>
          <a:p>
            <a:pPr>
              <a:spcAft>
                <a:spcPts val="800"/>
              </a:spcAft>
              <a:defRPr sz="1800"/>
            </a:pPr>
            <a:r>
              <a:t>Uncertain result → Probability + Stochastic + QUBO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Probability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Estimates likelihood of predefined candidate findings from ECG evidence.</a:t>
            </a:r>
          </a:p>
          <a:p>
            <a:pPr>
              <a:spcAft>
                <a:spcPts val="800"/>
              </a:spcAft>
              <a:defRPr sz="1800"/>
            </a:pPr>
            <a:r>
              <a:t>Concept: P(F | E), where F is a candidate finding and E is available ECG evidence.</a:t>
            </a:r>
          </a:p>
          <a:p>
            <a:pPr>
              <a:spcAft>
                <a:spcPts val="800"/>
              </a:spcAft>
              <a:defRPr sz="1800"/>
            </a:pPr>
            <a:r>
              <a:t>Illustrative report examples include rhythm abnormality, ST abnormality, QT abnormality and ectopic activity.</a:t>
            </a:r>
          </a:p>
          <a:p>
            <a:pPr>
              <a:spcAft>
                <a:spcPts val="800"/>
              </a:spcAft>
              <a:defRPr sz="1800"/>
            </a:pPr>
            <a:r>
              <a:t>The report states that example probabilities are illustrative only; real clinical use requires training, calibration, independent validation and clinical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Randomized / Stochastic 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Represents uncertainty rather than introducing arbitrary noise.</a:t>
            </a:r>
          </a:p>
          <a:p>
            <a:pPr>
              <a:spcAft>
                <a:spcPts val="800"/>
              </a:spcAft>
              <a:defRPr sz="1800"/>
            </a:pPr>
            <a:r>
              <a:t>Measured feature → uncertainty distribution → controlled random sampling → multiple plausible ECG states.</a:t>
            </a:r>
          </a:p>
          <a:p>
            <a:pPr>
              <a:spcAft>
                <a:spcPts val="800"/>
              </a:spcAft>
              <a:defRPr sz="1800"/>
            </a:pPr>
            <a:r>
              <a:t>Each state is evaluated by the downstream pipeline.</a:t>
            </a:r>
          </a:p>
          <a:p>
            <a:pPr>
              <a:spcAft>
                <a:spcPts val="800"/>
              </a:spcAft>
              <a:defRPr sz="1800"/>
            </a:pPr>
            <a:r>
              <a:t>Purpose: determine whether a finding remains stable under plausible measurement variation.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QUBO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QUBO = Quadratic Unconstrained Binary Optimization.</a:t>
            </a:r>
          </a:p>
          <a:p>
            <a:pPr>
              <a:spcAft>
                <a:spcPts val="800"/>
              </a:spcAft>
              <a:defRPr sz="1800"/>
            </a:pPr>
            <a:r>
              <a:t>Candidate findings use binary variables xᵢ ∈ {0,1}.</a:t>
            </a:r>
          </a:p>
          <a:p>
            <a:pPr>
              <a:spcAft>
                <a:spcPts val="800"/>
              </a:spcAft>
              <a:defRPr sz="1800"/>
            </a:pPr>
            <a:r>
              <a:t>E(x) = Σ aᵢxᵢ + Σ(i&lt;j) bᵢⱼxᵢxⱼ.</a:t>
            </a:r>
          </a:p>
          <a:p>
            <a:pPr>
              <a:spcAft>
                <a:spcPts val="800"/>
              </a:spcAft>
              <a:defRPr sz="1800"/>
            </a:pPr>
            <a:r>
              <a:t>Linear terms can encode evidence/probability; quadratic terms can encode compatibility, interaction or conflict penalties.</a:t>
            </a:r>
          </a:p>
          <a:p>
            <a:pPr>
              <a:spcAft>
                <a:spcPts val="800"/>
              </a:spcAft>
              <a:defRPr sz="1800"/>
            </a:pPr>
            <a:r>
              <a:t>The optimizer reconciles competing candidate findings according to the defined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Stability &amp;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Stability measures how consistently a finding appears across sampled ECG states.</a:t>
            </a:r>
          </a:p>
          <a:p>
            <a:pPr>
              <a:spcAft>
                <a:spcPts val="800"/>
              </a:spcAft>
              <a:defRPr sz="1800"/>
            </a:pPr>
            <a:r>
              <a:t>S(F) = N_F / N.</a:t>
            </a:r>
          </a:p>
          <a:p>
            <a:pPr>
              <a:spcAft>
                <a:spcPts val="800"/>
              </a:spcAft>
              <a:defRPr sz="1800"/>
            </a:pPr>
            <a:r>
              <a:t>N_F = sampled states supporting the finding; N = total sampled states.</a:t>
            </a:r>
          </a:p>
          <a:p>
            <a:pPr>
              <a:spcAft>
                <a:spcPts val="800"/>
              </a:spcAft>
              <a:defRPr sz="1800"/>
            </a:pPr>
            <a:r>
              <a:t>Example: 96 supporting states out of 100 → stability = 0.96.</a:t>
            </a:r>
          </a:p>
          <a:p>
            <a:pPr>
              <a:spcAft>
                <a:spcPts val="800"/>
              </a:spcAft>
              <a:defRPr sz="1800"/>
            </a:pPr>
            <a:r>
              <a:t>Stability is not the same as diagnostic probability; it describes robustness under the defined stochastic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Explainability &amp; Doctor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ECG waveform and relevant measurements.</a:t>
            </a:r>
          </a:p>
          <a:p>
            <a:pPr>
              <a:spcAft>
                <a:spcPts val="800"/>
              </a:spcAft>
              <a:defRPr sz="1800"/>
            </a:pPr>
            <a:r>
              <a:t>• Candidate findings with model probability and stability/robustness.</a:t>
            </a:r>
          </a:p>
          <a:p>
            <a:pPr>
              <a:spcAft>
                <a:spcPts val="800"/>
              </a:spcAft>
              <a:defRPr sz="1800"/>
            </a:pPr>
            <a:r>
              <a:t>• Signal quality and supporting morphology/rhythm evidence.</a:t>
            </a:r>
          </a:p>
          <a:p>
            <a:pPr>
              <a:spcAft>
                <a:spcPts val="800"/>
              </a:spcAft>
              <a:defRPr sz="1800"/>
            </a:pPr>
            <a:r>
              <a:t>• Model and algorithm version information.</a:t>
            </a:r>
          </a:p>
          <a:p>
            <a:pPr>
              <a:spcAft>
                <a:spcPts val="800"/>
              </a:spcAft>
              <a:defRPr sz="1800"/>
            </a:pPr>
            <a:r>
              <a:t>• Physician review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ECG input: CSV / MAT / XML initially.</a:t>
            </a:r>
          </a:p>
          <a:p>
            <a:pPr>
              <a:spcAft>
                <a:spcPts val="800"/>
              </a:spcAft>
              <a:defRPr sz="1800"/>
            </a:pPr>
            <a:r>
              <a:t>Signal processing: Python, NumPy, SciPy.</a:t>
            </a:r>
          </a:p>
          <a:p>
            <a:pPr>
              <a:spcAft>
                <a:spcPts val="800"/>
              </a:spcAft>
              <a:defRPr sz="1800"/>
            </a:pPr>
            <a:r>
              <a:t>ML: scikit-learn; PyTorch if required.</a:t>
            </a:r>
          </a:p>
          <a:p>
            <a:pPr>
              <a:spcAft>
                <a:spcPts val="800"/>
              </a:spcAft>
              <a:defRPr sz="1800"/>
            </a:pPr>
            <a:r>
              <a:t>Probability engine: statistical / machine-learning model.</a:t>
            </a:r>
          </a:p>
          <a:p>
            <a:pPr>
              <a:spcAft>
                <a:spcPts val="800"/>
              </a:spcAft>
              <a:defRPr sz="1800"/>
            </a:pPr>
            <a:r>
              <a:t>Random processor: Python stochastic engine.</a:t>
            </a:r>
          </a:p>
          <a:p>
            <a:pPr>
              <a:spcAft>
                <a:spcPts val="800"/>
              </a:spcAft>
              <a:defRPr sz="1800"/>
            </a:pPr>
            <a:r>
              <a:t>QUBO: classical solver / simulated annealing initially.</a:t>
            </a:r>
          </a:p>
          <a:p>
            <a:pPr>
              <a:spcAft>
                <a:spcPts val="800"/>
              </a:spcAft>
              <a:defRPr sz="1800"/>
            </a:pPr>
            <a:r>
              <a:t>Backend: FastAPI. UI: Streamlit initially; React later. Database: SQLite initially; PostgreSQL for production.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End-to-End Software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START → Load ECG → Check signal quality.</a:t>
            </a:r>
          </a:p>
          <a:p>
            <a:pPr>
              <a:spcAft>
                <a:spcPts val="800"/>
              </a:spcAft>
              <a:defRPr sz="1800"/>
            </a:pPr>
            <a:r>
              <a:t>Poor quality → flag for reacquisition/review.</a:t>
            </a:r>
          </a:p>
          <a:p>
            <a:pPr>
              <a:spcAft>
                <a:spcPts val="800"/>
              </a:spcAft>
              <a:defRPr sz="1800"/>
            </a:pPr>
            <a:r>
              <a:t>Preprocess → Extract features → Fast analysis → Probability estimation.</a:t>
            </a:r>
          </a:p>
          <a:p>
            <a:pPr>
              <a:spcAft>
                <a:spcPts val="800"/>
              </a:spcAft>
              <a:defRPr sz="1800"/>
            </a:pPr>
            <a:r>
              <a:t>Significant uncertainty → Random sampling → Candidate states → QUBO → Stability.</a:t>
            </a:r>
          </a:p>
          <a:p>
            <a:pPr>
              <a:spcAft>
                <a:spcPts val="800"/>
              </a:spcAft>
              <a:defRPr sz="1800"/>
            </a:pPr>
            <a:r>
              <a:t>Then → Explainability → Doctor dashboard → 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Development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Phase 1: ECG processing and basic measurements.</a:t>
            </a:r>
          </a:p>
          <a:p>
            <a:pPr>
              <a:spcAft>
                <a:spcPts val="800"/>
              </a:spcAft>
              <a:defRPr sz="1800"/>
            </a:pPr>
            <a:r>
              <a:t>Phase 2: Fast analyzer.</a:t>
            </a:r>
          </a:p>
          <a:p>
            <a:pPr>
              <a:spcAft>
                <a:spcPts val="800"/>
              </a:spcAft>
              <a:defRPr sz="1800"/>
            </a:pPr>
            <a:r>
              <a:t>Phase 3: Probability engine and model evaluation.</a:t>
            </a:r>
          </a:p>
          <a:p>
            <a:pPr>
              <a:spcAft>
                <a:spcPts val="800"/>
              </a:spcAft>
              <a:defRPr sz="1800"/>
            </a:pPr>
            <a:r>
              <a:t>Phase 4–6: stochastic sampling, QUBO and stability.</a:t>
            </a:r>
          </a:p>
          <a:p>
            <a:pPr>
              <a:spcAft>
                <a:spcPts val="800"/>
              </a:spcAft>
              <a:defRPr sz="1800"/>
            </a:pPr>
            <a:r>
              <a:t>Phase 7: dashboard. Phase 8: validation.</a:t>
            </a:r>
          </a:p>
          <a:p>
            <a:pPr>
              <a:spcAft>
                <a:spcPts val="800"/>
              </a:spcAft>
              <a:defRPr sz="1800"/>
            </a:pPr>
            <a:r>
              <a:t>Validation metrics can include sensitivity, specificity, precision, F1, AUROC, calibration, false-positive/negative rates, robustness, latency and stability.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Future Hardware &amp;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Future path: 12-lead ECG → ECG analog front end → ADC → MCU/edge processor → fast analyzer / AI accelerator → QUBO accelerator → doctor interface.</a:t>
            </a:r>
          </a:p>
          <a:p>
            <a:pPr>
              <a:spcAft>
                <a:spcPts val="800"/>
              </a:spcAft>
              <a:defRPr sz="1800"/>
            </a:pPr>
            <a:r>
              <a:t>Potential targets: hospitals, clinics, diagnostic laboratories, ECG manufacturers, digital-health companies and research institutions.</a:t>
            </a:r>
          </a:p>
          <a:p>
            <a:pPr>
              <a:spcAft>
                <a:spcPts val="800"/>
              </a:spcAft>
              <a:defRPr sz="1800"/>
            </a:pPr>
            <a:r>
              <a:t>Possible models: software subscription, SDK/API licensing, OEM licensing and embedded-device licensing.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Safety &amp;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The initial system is a research prototype and physician-assistance technology, not an autonomous diagnostic device.</a:t>
            </a:r>
          </a:p>
          <a:p>
            <a:pPr>
              <a:spcAft>
                <a:spcPts val="800"/>
              </a:spcAft>
              <a:defRPr sz="1800"/>
            </a:pPr>
            <a:r>
              <a:t>Probability should not be represented as definitive diagnosis; stability should not be represented as clinical certainty.</a:t>
            </a:r>
          </a:p>
          <a:p>
            <a:pPr>
              <a:spcAft>
                <a:spcPts val="800"/>
              </a:spcAft>
              <a:defRPr sz="1800"/>
            </a:pPr>
            <a:r>
              <a:t>Expected outcome: ECG → measurements → fast screening → probability → stochastic analysis → QUBO → stability → explainable report.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Recommended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ECG dataset</a:t>
            </a:r>
          </a:p>
          <a:p>
            <a:pPr>
              <a:spcAft>
                <a:spcPts val="800"/>
              </a:spcAft>
              <a:defRPr sz="1800"/>
            </a:pPr>
            <a:r>
              <a:t>↓ Python preprocessing</a:t>
            </a:r>
          </a:p>
          <a:p>
            <a:pPr>
              <a:spcAft>
                <a:spcPts val="800"/>
              </a:spcAft>
              <a:defRPr sz="1800"/>
            </a:pPr>
            <a:r>
              <a:t>↓ Fast Analyzer</a:t>
            </a:r>
          </a:p>
          <a:p>
            <a:pPr>
              <a:spcAft>
                <a:spcPts val="800"/>
              </a:spcAft>
              <a:defRPr sz="1800"/>
            </a:pPr>
            <a:r>
              <a:t>↓ Probability Engine</a:t>
            </a:r>
          </a:p>
          <a:p>
            <a:pPr>
              <a:spcAft>
                <a:spcPts val="800"/>
              </a:spcAft>
              <a:defRPr sz="1800"/>
            </a:pPr>
            <a:r>
              <a:t>↓ Random/Stochastic Processor</a:t>
            </a:r>
          </a:p>
          <a:p>
            <a:pPr>
              <a:spcAft>
                <a:spcPts val="800"/>
              </a:spcAft>
              <a:defRPr sz="1800"/>
            </a:pPr>
            <a:r>
              <a:t>↓ QUBO Engine</a:t>
            </a:r>
          </a:p>
          <a:p>
            <a:pPr>
              <a:spcAft>
                <a:spcPts val="800"/>
              </a:spcAft>
              <a:defRPr sz="1800"/>
            </a:pPr>
            <a:r>
              <a:t>↓ Stability Score</a:t>
            </a:r>
          </a:p>
          <a:p>
            <a:pPr>
              <a:spcAft>
                <a:spcPts val="800"/>
              </a:spcAft>
              <a:defRPr sz="1800"/>
            </a:pPr>
            <a:r>
              <a:t>↓ Streamlit Doctor Dashboard</a:t>
            </a:r>
          </a:p>
          <a:p>
            <a:pPr>
              <a:spcAft>
                <a:spcPts val="800"/>
              </a:spcAft>
              <a:defRPr sz="1800"/>
            </a:pPr>
            <a:r>
              <a:t>This demonstrates the core concept before custom ECG hardware.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One-Line Innovation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 fast, probabilistic and uncertainty-aware ECG doctor-assistance system that uses controlled stochastic sampling and QUBO optimization to identify robust ECG findings while presenting probability, stability, signal quality and supporting evidence for physician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